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Welcome evaluators. Today we present RespiraSense AI, an experimental prototype tackling MED-PS-006. Our goal is to transform ubiquitous smartphone sensors into a trustworthy respiratory trend monitor capable of rejecting movement artifacts.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Respiratory rate is vital yet notoriously difficult to measure on moving individuals. A walking patient produces acceleration magnitudes 10x higher than chest wall displacement, causing conventional peak detectors to fail.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Existing systems suffer from 'false precision'. If a patient coughs or rolls over, existing algorithms count the spikes as hyperventilation. We need transparent quality indices that suspend calculation when noise overwhelms the signal.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Our solution uses the phone already in the patient's pocket or strapped gently to the sternum. We separate gravity, filter the breathing band, and compute an explainable Signal Quality Index before fusing the channels.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As shown in our architecture diagram, data moves systematically from raw phone buffers through gravity separation, bandpass filtering, SQI scoring, and dual-domain rate estimation before rendering on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Unlike prior patents that abruptly jump between algorithms or average raw sensors, our core innovation continuously modulates weights by signal quality to the power of 1.5, prioritizing the cleanest physical channel.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Context awareness prevents false clinical alarms. An elevated respiratory rate of 28 bpm while walking or recovering from exertion is physiological, not sepsis. Our engine recognizes activity state before triggering alarms.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Our entire prototype was achieved without specialized hardware. By leveraging Phyphox's REST API over WiFi and SciPy's digital signal processing, we achieved an edge-computing architecture running entirely in Python.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screenshot shows real output generated directly by our running code. Notice how when motion RMS spikes during simulated movement, the Z-axis SQI drops and the rate estimation gracefully safeguards itself.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 have verified our mathematics against synthetic ground truth, injected motion artifacts, and simulated tilt transitions. All 7 unit tests passed. We clearly distinguish our completed bench tests from future clinical trials.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Respiratory failure is the number one cause of preventable hospital deaths. Bringing reliable, artifact-resistant rate estimation to consumer smartphones creates an unprecedented global opportunity for early detection.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In conclusion, RespiraSense AI demonstrates that adaptive sensor fusion can conquer movement artifacts on ubiquitous hardware. We thank the evaluation panel and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97280"/>
          </a:xfrm>
          <a:prstGeom prst="rect">
            <a:avLst/>
          </a:prstGeom>
          <a:noFill/>
        </p:spPr>
        <p:txBody>
          <a:bodyPr wrap="square" lIns="0" tIns="0" rIns="0" bIns="0">
            <a:spAutoFit/>
          </a:bodyPr>
          <a:lstStyle/>
          <a:p>
            <a:pPr>
              <a:defRPr b="1" sz="2600">
                <a:solidFill>
                  <a:srgbClr val="FFFFFF"/>
                </a:solidFill>
              </a:defRPr>
            </a:pPr>
            <a:r>
              <a:t>RespiraSense AI</a:t>
            </a:r>
          </a:p>
          <a:p>
            <a:pPr>
              <a:defRPr b="1" sz="1100">
                <a:solidFill>
                  <a:srgbClr val="00E5FF"/>
                </a:solidFill>
              </a:defRPr>
            </a:pPr>
            <a:r>
              <a:t>INTELLIGENT RESPIRATORY MONITORING WITH ADAPTIVE SENSOR FUSION</a:t>
            </a:r>
          </a:p>
        </p:txBody>
      </p:sp>
      <p:sp>
        <p:nvSpPr>
          <p:cNvPr id="5" name="TextBox 4"/>
          <p:cNvSpPr txBox="1"/>
          <p:nvPr/>
        </p:nvSpPr>
        <p:spPr>
          <a:xfrm>
            <a:off x="731520" y="1554480"/>
            <a:ext cx="10698480" cy="4114800"/>
          </a:xfrm>
          <a:prstGeom prst="rect">
            <a:avLst/>
          </a:prstGeom>
          <a:noFill/>
        </p:spPr>
        <p:txBody>
          <a:bodyPr wrap="square" lIns="0" tIns="0" rIns="0" bIns="0">
            <a:spAutoFit/>
          </a:bodyPr>
          <a:lstStyle/>
          <a:p>
            <a:pPr>
              <a:defRPr b="1" sz="1300">
                <a:solidFill>
                  <a:srgbClr val="48E5C2"/>
                </a:solidFill>
              </a:defRPr>
            </a:pPr>
            <a:r>
              <a:t>Problem Statement (MED-PS-006):</a:t>
            </a:r>
          </a:p>
          <a:p>
            <a:pPr>
              <a:spcAft>
                <a:spcPts val="1000"/>
              </a:spcAft>
              <a:defRPr sz="1100">
                <a:solidFill>
                  <a:srgbClr val="E0E6ED"/>
                </a:solidFill>
              </a:defRPr>
            </a:pPr>
            <a:r>
              <a:t>Development of a Respiration Monitoring System That Separates Breathing Deterioration from Movement Artefacts.</a:t>
            </a:r>
          </a:p>
          <a:p>
            <a:pPr>
              <a:defRPr b="1" sz="1300">
                <a:solidFill>
                  <a:srgbClr val="48E5C2"/>
                </a:solidFill>
              </a:defRPr>
            </a:pPr>
            <a:r>
              <a:t>Evaluation Objective:</a:t>
            </a:r>
          </a:p>
          <a:p>
            <a:pPr>
              <a:spcAft>
                <a:spcPts val="1000"/>
              </a:spcAft>
              <a:defRPr sz="1100">
                <a:solidFill>
                  <a:srgbClr val="E0E6ED"/>
                </a:solidFill>
              </a:defRPr>
            </a:pPr>
            <a:r>
              <a:t>Investigate how wearable smartphone respiratory movement signals can be robustly distinguished from physical movement artefacts using multi-axis digital signal processing, signal quality assessment (SQI), and adaptive confidence-weighted sensor fusion.</a:t>
            </a:r>
          </a:p>
          <a:p>
            <a:pPr>
              <a:defRPr b="1" sz="1300">
                <a:solidFill>
                  <a:srgbClr val="48E5C2"/>
                </a:solidFill>
              </a:defRPr>
            </a:pPr>
            <a:r>
              <a:t>Team &amp; Institution Details (Editable Placeholders):</a:t>
            </a:r>
          </a:p>
          <a:p>
            <a:pPr>
              <a:spcAft>
                <a:spcPts val="1000"/>
              </a:spcAft>
              <a:defRPr sz="1100">
                <a:solidFill>
                  <a:srgbClr val="E0E6ED"/>
                </a:solidFill>
              </a:defRPr>
            </a:pPr>
            <a:r>
              <a:t>• Team Name: [Team Innovators / RespiraSense]</a:t>
            </a:r>
            <a:br/>
            <a:r>
              <a:t>• Members: [Lead Engineer, Signal Processing Lead, Clinical Associate]</a:t>
            </a:r>
            <a:br/>
            <a:r>
              <a:t>• Institution / Organization: [University / Institute of Technology]</a:t>
            </a:r>
            <a:br/>
            <a:r>
              <a:t>• Hackathon / Event: [Medical Device Hackathon 2026 - Phase 1 Evaluation]</a:t>
            </a:r>
          </a:p>
        </p:txBody>
      </p:sp>
      <p:sp>
        <p:nvSpPr>
          <p:cNvPr id="6" name="TextBox 5"/>
          <p:cNvSpPr txBox="1"/>
          <p:nvPr/>
        </p:nvSpPr>
        <p:spPr>
          <a:xfrm>
            <a:off x="731520" y="6309360"/>
            <a:ext cx="10698480" cy="365760"/>
          </a:xfrm>
          <a:prstGeom prst="rect">
            <a:avLst/>
          </a:prstGeom>
          <a:noFill/>
        </p:spPr>
        <p:txBody>
          <a:bodyPr wrap="none">
            <a:spAutoFit/>
          </a:bodyPr>
          <a:lstStyle/>
          <a:p>
            <a:pPr>
              <a:defRPr sz="900">
                <a:solidFill>
                  <a:srgbClr val="6E8CAA"/>
                </a:solidFill>
              </a:defRPr>
            </a:pPr>
            <a:r>
              <a:t>RespiraSense AI | MED-PS-006  •  Slide 1 of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97280"/>
          </a:xfrm>
          <a:prstGeom prst="rect">
            <a:avLst/>
          </a:prstGeom>
          <a:noFill/>
        </p:spPr>
        <p:txBody>
          <a:bodyPr wrap="square" lIns="0" tIns="0" rIns="0" bIns="0">
            <a:spAutoFit/>
          </a:bodyPr>
          <a:lstStyle/>
          <a:p>
            <a:pPr>
              <a:defRPr b="1" sz="2600">
                <a:solidFill>
                  <a:srgbClr val="FFFFFF"/>
                </a:solidFill>
              </a:defRPr>
            </a:pPr>
            <a:r>
              <a:t>Problem Statement &amp; Clinical Relevance</a:t>
            </a:r>
          </a:p>
          <a:p>
            <a:pPr>
              <a:defRPr b="1" sz="1100">
                <a:solidFill>
                  <a:srgbClr val="00E5FF"/>
                </a:solidFill>
              </a:defRPr>
            </a:pPr>
            <a:r>
              <a:t>WHY CONTINUOUS RESPIRATION MONITORING FAILS IN AMBULATORY SETTINGS</a:t>
            </a:r>
          </a:p>
        </p:txBody>
      </p:sp>
      <p:sp>
        <p:nvSpPr>
          <p:cNvPr id="5" name="TextBox 4"/>
          <p:cNvSpPr txBox="1"/>
          <p:nvPr/>
        </p:nvSpPr>
        <p:spPr>
          <a:xfrm>
            <a:off x="731520" y="1554480"/>
            <a:ext cx="10698480" cy="4114800"/>
          </a:xfrm>
          <a:prstGeom prst="rect">
            <a:avLst/>
          </a:prstGeom>
          <a:noFill/>
        </p:spPr>
        <p:txBody>
          <a:bodyPr wrap="square" lIns="0" tIns="0" rIns="0" bIns="0">
            <a:spAutoFit/>
          </a:bodyPr>
          <a:lstStyle/>
          <a:p>
            <a:pPr>
              <a:defRPr b="1" sz="1300">
                <a:solidFill>
                  <a:srgbClr val="48E5C2"/>
                </a:solidFill>
              </a:defRPr>
            </a:pPr>
            <a:r>
              <a:t>Ambulatory Vulnerability:</a:t>
            </a:r>
          </a:p>
          <a:p>
            <a:pPr>
              <a:spcAft>
                <a:spcPts val="1000"/>
              </a:spcAft>
              <a:defRPr sz="1100">
                <a:solidFill>
                  <a:srgbClr val="E0E6ED"/>
                </a:solidFill>
              </a:defRPr>
            </a:pPr>
            <a:r>
              <a:t>Wearable and chest-contact respiratory monitors become highly unreliable when patients move, walk, cough, speak, or transition body posture.</a:t>
            </a:r>
          </a:p>
          <a:p>
            <a:pPr>
              <a:defRPr b="1" sz="1300">
                <a:solidFill>
                  <a:srgbClr val="48E5C2"/>
                </a:solidFill>
              </a:defRPr>
            </a:pPr>
            <a:r>
              <a:t>The Deterioration Masking Challenge:</a:t>
            </a:r>
          </a:p>
          <a:p>
            <a:pPr>
              <a:spcAft>
                <a:spcPts val="1000"/>
              </a:spcAft>
              <a:defRPr sz="1100">
                <a:solidFill>
                  <a:srgbClr val="E0E6ED"/>
                </a:solidFill>
              </a:defRPr>
            </a:pPr>
            <a:r>
              <a:t>Respiratory rate (RR) is the earliest and most sensitive marker of acute clinical deterioration (e.g. sepsis, COPD exacerbations, post-operative hypoventilation). However, movement artefacts mimic or mask genuine shallow/rapid breathing patterns.</a:t>
            </a:r>
          </a:p>
          <a:p>
            <a:pPr>
              <a:defRPr b="1" sz="1300">
                <a:solidFill>
                  <a:srgbClr val="48E5C2"/>
                </a:solidFill>
              </a:defRPr>
            </a:pPr>
            <a:r>
              <a:t>High False-Alarm Burden:</a:t>
            </a:r>
          </a:p>
          <a:p>
            <a:pPr>
              <a:spcAft>
                <a:spcPts val="1000"/>
              </a:spcAft>
              <a:defRPr sz="1100">
                <a:solidFill>
                  <a:srgbClr val="E0E6ED"/>
                </a:solidFill>
              </a:defRPr>
            </a:pPr>
            <a:r>
              <a:t>In current bedside and wearable devices, high motion noise causes frequent false tachypnea alarms or inaccurate rate dropouts, inducing severe alarm fatigue and delayed clinical intervention.</a:t>
            </a:r>
          </a:p>
          <a:p>
            <a:pPr>
              <a:defRPr b="1" sz="1300">
                <a:solidFill>
                  <a:srgbClr val="48E5C2"/>
                </a:solidFill>
              </a:defRPr>
            </a:pPr>
            <a:r>
              <a:t>The Core Question:</a:t>
            </a:r>
          </a:p>
          <a:p>
            <a:pPr>
              <a:spcAft>
                <a:spcPts val="1000"/>
              </a:spcAft>
              <a:defRPr sz="1100">
                <a:solidFill>
                  <a:srgbClr val="E0E6ED"/>
                </a:solidFill>
              </a:defRPr>
            </a:pPr>
            <a:r>
              <a:t>How can an ambulatory system mathematically isolate respiratory chest expansion from high-energy whole-body acceleration without specialized, expensive multi-sensor arrays?</a:t>
            </a:r>
          </a:p>
        </p:txBody>
      </p:sp>
      <p:sp>
        <p:nvSpPr>
          <p:cNvPr id="6" name="TextBox 5"/>
          <p:cNvSpPr txBox="1"/>
          <p:nvPr/>
        </p:nvSpPr>
        <p:spPr>
          <a:xfrm>
            <a:off x="731520" y="6309360"/>
            <a:ext cx="10698480" cy="365760"/>
          </a:xfrm>
          <a:prstGeom prst="rect">
            <a:avLst/>
          </a:prstGeom>
          <a:noFill/>
        </p:spPr>
        <p:txBody>
          <a:bodyPr wrap="none">
            <a:spAutoFit/>
          </a:bodyPr>
          <a:lstStyle/>
          <a:p>
            <a:pPr>
              <a:defRPr sz="900">
                <a:solidFill>
                  <a:srgbClr val="6E8CAA"/>
                </a:solidFill>
              </a:defRPr>
            </a:pPr>
            <a:r>
              <a:t>RespiraSense AI | MED-PS-006  •  Slide 2 of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97280"/>
          </a:xfrm>
          <a:prstGeom prst="rect">
            <a:avLst/>
          </a:prstGeom>
          <a:noFill/>
        </p:spPr>
        <p:txBody>
          <a:bodyPr wrap="square" lIns="0" tIns="0" rIns="0" bIns="0">
            <a:spAutoFit/>
          </a:bodyPr>
          <a:lstStyle/>
          <a:p>
            <a:pPr>
              <a:defRPr b="1" sz="2600">
                <a:solidFill>
                  <a:srgbClr val="FFFFFF"/>
                </a:solidFill>
              </a:defRPr>
            </a:pPr>
            <a:r>
              <a:t>Existing Challenges &amp; State of the Art</a:t>
            </a:r>
          </a:p>
          <a:p>
            <a:pPr>
              <a:defRPr b="1" sz="1100">
                <a:solidFill>
                  <a:srgbClr val="00E5FF"/>
                </a:solidFill>
              </a:defRPr>
            </a:pPr>
            <a:r>
              <a:t>LIMITATIONS OF CONVENTIONAL MONITORING SOLUTIONS</a:t>
            </a:r>
          </a:p>
        </p:txBody>
      </p:sp>
      <p:sp>
        <p:nvSpPr>
          <p:cNvPr id="5" name="TextBox 4"/>
          <p:cNvSpPr txBox="1"/>
          <p:nvPr/>
        </p:nvSpPr>
        <p:spPr>
          <a:xfrm>
            <a:off x="731520" y="1554480"/>
            <a:ext cx="10698480" cy="4114800"/>
          </a:xfrm>
          <a:prstGeom prst="rect">
            <a:avLst/>
          </a:prstGeom>
          <a:noFill/>
        </p:spPr>
        <p:txBody>
          <a:bodyPr wrap="square" lIns="0" tIns="0" rIns="0" bIns="0">
            <a:spAutoFit/>
          </a:bodyPr>
          <a:lstStyle/>
          <a:p>
            <a:pPr>
              <a:defRPr b="1" sz="1300">
                <a:solidFill>
                  <a:srgbClr val="48E5C2"/>
                </a:solidFill>
              </a:defRPr>
            </a:pPr>
            <a:r>
              <a:t>Unreliable Measurements During Physical Movement:</a:t>
            </a:r>
          </a:p>
          <a:p>
            <a:pPr>
              <a:spcAft>
                <a:spcPts val="1000"/>
              </a:spcAft>
              <a:defRPr sz="1100">
                <a:solidFill>
                  <a:srgbClr val="E0E6ED"/>
                </a:solidFill>
              </a:defRPr>
            </a:pPr>
            <a:r>
              <a:t>Standard wearables assume a stationary subject. Walking steps (1.2–2.5 Hz) generate harmonics that bleed into or overpower the normal respiratory frequency band (0.1–0.7 Hz).</a:t>
            </a:r>
          </a:p>
          <a:p>
            <a:pPr>
              <a:defRPr b="1" sz="1300">
                <a:solidFill>
                  <a:srgbClr val="48E5C2"/>
                </a:solidFill>
              </a:defRPr>
            </a:pPr>
            <a:r>
              <a:t>Signal Contamination &amp; False Certainty:</a:t>
            </a:r>
          </a:p>
          <a:p>
            <a:pPr>
              <a:spcAft>
                <a:spcPts val="1000"/>
              </a:spcAft>
              <a:defRPr sz="1100">
                <a:solidFill>
                  <a:srgbClr val="E0E6ED"/>
                </a:solidFill>
              </a:defRPr>
            </a:pPr>
            <a:r>
              <a:t>Commercial devices frequently report a precise rate even when the signal is pure noise. Presenting false numbers with unwarranted confidence is clinically dangerous.</a:t>
            </a:r>
          </a:p>
          <a:p>
            <a:pPr>
              <a:defRPr b="1" sz="1300">
                <a:solidFill>
                  <a:srgbClr val="48E5C2"/>
                </a:solidFill>
              </a:defRPr>
            </a:pPr>
            <a:r>
              <a:t>Limitations of Single-Channel Monitoring:</a:t>
            </a:r>
          </a:p>
          <a:p>
            <a:pPr>
              <a:spcAft>
                <a:spcPts val="1000"/>
              </a:spcAft>
              <a:defRPr sz="1100">
                <a:solidFill>
                  <a:srgbClr val="E0E6ED"/>
                </a:solidFill>
              </a:defRPr>
            </a:pPr>
            <a:r>
              <a:t>Single-axis accelerometers or single acoustic mics cannot differentiate body orientation changes (gravity vector tilt) from shallow diaphragmatic breathing.</a:t>
            </a:r>
          </a:p>
          <a:p>
            <a:pPr>
              <a:defRPr b="1" sz="1300">
                <a:solidFill>
                  <a:srgbClr val="48E5C2"/>
                </a:solidFill>
              </a:defRPr>
            </a:pPr>
            <a:r>
              <a:t>Prior Art Shortcomings:</a:t>
            </a:r>
          </a:p>
          <a:p>
            <a:pPr>
              <a:spcAft>
                <a:spcPts val="1000"/>
              </a:spcAft>
              <a:defRPr sz="1100">
                <a:solidFill>
                  <a:srgbClr val="E0E6ED"/>
                </a:solidFill>
              </a:defRPr>
            </a:pPr>
            <a:r>
              <a:t>Prior patents either switch algorithms based on arbitrary motion thresholds or average raw signals blindly without continuous confidence and signal-quality weighting.</a:t>
            </a:r>
          </a:p>
        </p:txBody>
      </p:sp>
      <p:sp>
        <p:nvSpPr>
          <p:cNvPr id="6" name="TextBox 5"/>
          <p:cNvSpPr txBox="1"/>
          <p:nvPr/>
        </p:nvSpPr>
        <p:spPr>
          <a:xfrm>
            <a:off x="731520" y="6309360"/>
            <a:ext cx="10698480" cy="365760"/>
          </a:xfrm>
          <a:prstGeom prst="rect">
            <a:avLst/>
          </a:prstGeom>
          <a:noFill/>
        </p:spPr>
        <p:txBody>
          <a:bodyPr wrap="none">
            <a:spAutoFit/>
          </a:bodyPr>
          <a:lstStyle/>
          <a:p>
            <a:pPr>
              <a:defRPr sz="900">
                <a:solidFill>
                  <a:srgbClr val="6E8CAA"/>
                </a:solidFill>
              </a:defRPr>
            </a:pPr>
            <a:r>
              <a:t>RespiraSense AI | MED-PS-006  •  Slide 3 of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97280"/>
          </a:xfrm>
          <a:prstGeom prst="rect">
            <a:avLst/>
          </a:prstGeom>
          <a:noFill/>
        </p:spPr>
        <p:txBody>
          <a:bodyPr wrap="square" lIns="0" tIns="0" rIns="0" bIns="0">
            <a:spAutoFit/>
          </a:bodyPr>
          <a:lstStyle/>
          <a:p>
            <a:pPr>
              <a:defRPr b="1" sz="2600">
                <a:solidFill>
                  <a:srgbClr val="FFFFFF"/>
                </a:solidFill>
              </a:defRPr>
            </a:pPr>
            <a:r>
              <a:t>The Proposed Solution: RespiraSense AI</a:t>
            </a:r>
          </a:p>
          <a:p>
            <a:pPr>
              <a:defRPr b="1" sz="1100">
                <a:solidFill>
                  <a:srgbClr val="00E5FF"/>
                </a:solidFill>
              </a:defRPr>
            </a:pPr>
            <a:r>
              <a:t>SMARTPHONE-ONLY MULTI-AXIS SENSING &amp; ADAPTIVE FUSION</a:t>
            </a:r>
          </a:p>
        </p:txBody>
      </p:sp>
      <p:sp>
        <p:nvSpPr>
          <p:cNvPr id="5" name="TextBox 4"/>
          <p:cNvSpPr txBox="1"/>
          <p:nvPr/>
        </p:nvSpPr>
        <p:spPr>
          <a:xfrm>
            <a:off x="731520" y="1554480"/>
            <a:ext cx="10698480" cy="4114800"/>
          </a:xfrm>
          <a:prstGeom prst="rect">
            <a:avLst/>
          </a:prstGeom>
          <a:noFill/>
        </p:spPr>
        <p:txBody>
          <a:bodyPr wrap="square" lIns="0" tIns="0" rIns="0" bIns="0">
            <a:spAutoFit/>
          </a:bodyPr>
          <a:lstStyle/>
          <a:p>
            <a:pPr>
              <a:defRPr b="1" sz="1300">
                <a:solidFill>
                  <a:srgbClr val="48E5C2"/>
                </a:solidFill>
              </a:defRPr>
            </a:pPr>
            <a:r>
              <a:t>Zero Added Hardware Cost:</a:t>
            </a:r>
          </a:p>
          <a:p>
            <a:pPr>
              <a:spcAft>
                <a:spcPts val="1000"/>
              </a:spcAft>
              <a:defRPr sz="1100">
                <a:solidFill>
                  <a:srgbClr val="E0E6ED"/>
                </a:solidFill>
              </a:defRPr>
            </a:pPr>
            <a:r>
              <a:t>Leverages the built-in 3-axis accelerometer and gyroscope of standard Android smartphones running the Phyphox REST interface—no external microcontrollers or hardware wiring required.</a:t>
            </a:r>
          </a:p>
          <a:p>
            <a:pPr>
              <a:defRPr b="1" sz="1300">
                <a:solidFill>
                  <a:srgbClr val="48E5C2"/>
                </a:solidFill>
              </a:defRPr>
            </a:pPr>
            <a:r>
              <a:t>Multi-Axis Motion Decomposition:</a:t>
            </a:r>
          </a:p>
          <a:p>
            <a:pPr>
              <a:spcAft>
                <a:spcPts val="1000"/>
              </a:spcAft>
              <a:defRPr sz="1100">
                <a:solidFill>
                  <a:srgbClr val="E0E6ED"/>
                </a:solidFill>
              </a:defRPr>
            </a:pPr>
            <a:r>
              <a:t>Separates static gravity vectors from dynamic acceleration across X (lateral), Y (longitudinal), and Z (anterior-posterior chest expansion).</a:t>
            </a:r>
          </a:p>
          <a:p>
            <a:pPr>
              <a:defRPr b="1" sz="1300">
                <a:solidFill>
                  <a:srgbClr val="48E5C2"/>
                </a:solidFill>
              </a:defRPr>
            </a:pPr>
            <a:r>
              <a:t>Continuous Signal Quality Index (SQI):</a:t>
            </a:r>
          </a:p>
          <a:p>
            <a:pPr>
              <a:spcAft>
                <a:spcPts val="1000"/>
              </a:spcAft>
              <a:defRPr sz="1100">
                <a:solidFill>
                  <a:srgbClr val="E0E6ED"/>
                </a:solidFill>
              </a:defRPr>
            </a:pPr>
            <a:r>
              <a:t>Computes real-time quality scores (0.0 to 1.0) evaluating spectral purity, autocorrelation lag periodicity, and breath-to-breath amplitude consistency.</a:t>
            </a:r>
          </a:p>
          <a:p>
            <a:pPr>
              <a:defRPr b="1" sz="1300">
                <a:solidFill>
                  <a:srgbClr val="48E5C2"/>
                </a:solidFill>
              </a:defRPr>
            </a:pPr>
            <a:r>
              <a:t>Adaptive Quality-Weighted Fusion:</a:t>
            </a:r>
          </a:p>
          <a:p>
            <a:pPr>
              <a:spcAft>
                <a:spcPts val="1000"/>
              </a:spcAft>
              <a:defRPr sz="1100">
                <a:solidFill>
                  <a:srgbClr val="E0E6ED"/>
                </a:solidFill>
              </a:defRPr>
            </a:pPr>
            <a:r>
              <a:t>Dynamically weights channels so clean axes dominate while corrupted channels contribute zero. If all channels fall below quality thresholds, rate estimation is honestly suspended.</a:t>
            </a:r>
          </a:p>
          <a:p>
            <a:pPr>
              <a:defRPr b="1" sz="1300">
                <a:solidFill>
                  <a:srgbClr val="48E5C2"/>
                </a:solidFill>
              </a:defRPr>
            </a:pPr>
            <a:r>
              <a:t>Clinical Decision Support Dashboard:</a:t>
            </a:r>
          </a:p>
          <a:p>
            <a:pPr>
              <a:spcAft>
                <a:spcPts val="1000"/>
              </a:spcAft>
              <a:defRPr sz="1100">
                <a:solidFill>
                  <a:srgbClr val="E0E6ED"/>
                </a:solidFill>
              </a:defRPr>
            </a:pPr>
            <a:r>
              <a:t>Real-time Streamlit web interface displaying live waveforms, adaptive weight dials, SQI gauges, and context-aware alerts.</a:t>
            </a:r>
          </a:p>
        </p:txBody>
      </p:sp>
      <p:sp>
        <p:nvSpPr>
          <p:cNvPr id="6" name="TextBox 5"/>
          <p:cNvSpPr txBox="1"/>
          <p:nvPr/>
        </p:nvSpPr>
        <p:spPr>
          <a:xfrm>
            <a:off x="731520" y="6309360"/>
            <a:ext cx="10698480" cy="365760"/>
          </a:xfrm>
          <a:prstGeom prst="rect">
            <a:avLst/>
          </a:prstGeom>
          <a:noFill/>
        </p:spPr>
        <p:txBody>
          <a:bodyPr wrap="none">
            <a:spAutoFit/>
          </a:bodyPr>
          <a:lstStyle/>
          <a:p>
            <a:pPr>
              <a:defRPr sz="900">
                <a:solidFill>
                  <a:srgbClr val="6E8CAA"/>
                </a:solidFill>
              </a:defRPr>
            </a:pPr>
            <a:r>
              <a:t>RespiraSense AI | MED-PS-006  •  Slide 4 of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97280"/>
          </a:xfrm>
          <a:prstGeom prst="rect">
            <a:avLst/>
          </a:prstGeom>
          <a:noFill/>
        </p:spPr>
        <p:txBody>
          <a:bodyPr wrap="square" lIns="0" tIns="0" rIns="0" bIns="0">
            <a:spAutoFit/>
          </a:bodyPr>
          <a:lstStyle/>
          <a:p>
            <a:pPr>
              <a:defRPr b="1" sz="2600">
                <a:solidFill>
                  <a:srgbClr val="FFFFFF"/>
                </a:solidFill>
              </a:defRPr>
            </a:pPr>
            <a:r>
              <a:t>System Architecture Pipeline</a:t>
            </a:r>
          </a:p>
          <a:p>
            <a:pPr>
              <a:defRPr b="1" sz="1100">
                <a:solidFill>
                  <a:srgbClr val="00E5FF"/>
                </a:solidFill>
              </a:defRPr>
            </a:pPr>
            <a:r>
              <a:t>END-TO-END DATA FLOW FROM RAW SENSOR TO CLINICAL TELEMETRY</a:t>
            </a:r>
          </a:p>
        </p:txBody>
      </p:sp>
      <p:sp>
        <p:nvSpPr>
          <p:cNvPr id="5" name="TextBox 4"/>
          <p:cNvSpPr txBox="1"/>
          <p:nvPr/>
        </p:nvSpPr>
        <p:spPr>
          <a:xfrm>
            <a:off x="731520" y="1554480"/>
            <a:ext cx="5852160" cy="4114800"/>
          </a:xfrm>
          <a:prstGeom prst="rect">
            <a:avLst/>
          </a:prstGeom>
          <a:noFill/>
        </p:spPr>
        <p:txBody>
          <a:bodyPr wrap="square" lIns="0" tIns="0" rIns="0" bIns="0">
            <a:spAutoFit/>
          </a:bodyPr>
          <a:lstStyle/>
          <a:p>
            <a:pPr>
              <a:defRPr b="1" sz="1300">
                <a:solidFill>
                  <a:srgbClr val="48E5C2"/>
                </a:solidFill>
              </a:defRPr>
            </a:pPr>
            <a:r>
              <a:t>7-Stage Sequential Processing Engine:</a:t>
            </a:r>
          </a:p>
          <a:p>
            <a:pPr>
              <a:spcAft>
                <a:spcPts val="1000"/>
              </a:spcAft>
              <a:defRPr sz="1100">
                <a:solidFill>
                  <a:srgbClr val="E0E6ED"/>
                </a:solidFill>
              </a:defRPr>
            </a:pPr>
            <a:r>
              <a:t>1. Smartphone Sensors: Tri-axial acceleration (accX, accY, accZ) + hardware timestamps (acc_time) via Phyphox.</a:t>
            </a:r>
            <a:br/>
            <a:r>
              <a:t>2. Signal Acquisition: Bounded incremental buffer fetching preventing memory leaks &amp; network latency.</a:t>
            </a:r>
            <a:br/>
            <a:r>
              <a:t>3. Signal Preprocessing: 0.08 Hz low-pass gravity separation + 0.1–0.7 Hz 4th-order Butterworth bandpass filtering.</a:t>
            </a:r>
            <a:br/>
            <a:r>
              <a:t>4. Signal Quality Analysis: Multi-metric SQI (spectral concentration, periodicity, SNR, clipping penalty).</a:t>
            </a:r>
            <a:br/>
            <a:r>
              <a:t>5. Adaptive Sensor Fusion: Confidence-weighted channel fusion with activity-aware baseline priors.</a:t>
            </a:r>
            <a:br/>
            <a:r>
              <a:t>6. Respiratory Trend Estimation: Dual-domain consensus (time-domain peak intervals + Welch spectral density).</a:t>
            </a:r>
            <a:br/>
            <a:r>
              <a:t>7. Monitoring Dashboard: Live Plotly visualizer with automated tachypnea, apnea, and quality rejection alerts.</a:t>
            </a:r>
          </a:p>
        </p:txBody>
      </p:sp>
      <p:pic>
        <p:nvPicPr>
          <p:cNvPr id="6" name="Picture 5" descr="architecture_flowchart.png"/>
          <p:cNvPicPr>
            <a:picLocks noChangeAspect="1"/>
          </p:cNvPicPr>
          <p:nvPr/>
        </p:nvPicPr>
        <p:blipFill>
          <a:blip r:embed="rId2"/>
          <a:stretch>
            <a:fillRect/>
          </a:stretch>
        </p:blipFill>
        <p:spPr>
          <a:xfrm>
            <a:off x="6858000" y="2011680"/>
            <a:ext cx="4572000" cy="1112623"/>
          </a:xfrm>
          <a:prstGeom prst="rect">
            <a:avLst/>
          </a:prstGeom>
        </p:spPr>
      </p:pic>
      <p:sp>
        <p:nvSpPr>
          <p:cNvPr id="7" name="TextBox 6"/>
          <p:cNvSpPr txBox="1"/>
          <p:nvPr/>
        </p:nvSpPr>
        <p:spPr>
          <a:xfrm>
            <a:off x="731520" y="6309360"/>
            <a:ext cx="10698480" cy="365760"/>
          </a:xfrm>
          <a:prstGeom prst="rect">
            <a:avLst/>
          </a:prstGeom>
          <a:noFill/>
        </p:spPr>
        <p:txBody>
          <a:bodyPr wrap="none">
            <a:spAutoFit/>
          </a:bodyPr>
          <a:lstStyle/>
          <a:p>
            <a:pPr>
              <a:defRPr sz="900">
                <a:solidFill>
                  <a:srgbClr val="6E8CAA"/>
                </a:solidFill>
              </a:defRPr>
            </a:pPr>
            <a:r>
              <a:t>RespiraSense AI | MED-PS-006  •  Slide 5 of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97280"/>
          </a:xfrm>
          <a:prstGeom prst="rect">
            <a:avLst/>
          </a:prstGeom>
          <a:noFill/>
        </p:spPr>
        <p:txBody>
          <a:bodyPr wrap="square" lIns="0" tIns="0" rIns="0" bIns="0">
            <a:spAutoFit/>
          </a:bodyPr>
          <a:lstStyle/>
          <a:p>
            <a:pPr>
              <a:defRPr b="1" sz="2600">
                <a:solidFill>
                  <a:srgbClr val="FFFFFF"/>
                </a:solidFill>
              </a:defRPr>
            </a:pPr>
            <a:r>
              <a:t>Core Innovation: Adaptive Channel Fusion</a:t>
            </a:r>
          </a:p>
          <a:p>
            <a:pPr>
              <a:defRPr b="1" sz="1100">
                <a:solidFill>
                  <a:srgbClr val="00E5FF"/>
                </a:solidFill>
              </a:defRPr>
            </a:pPr>
            <a:r>
              <a:t>CONTINUOUS CONFIDENCE WEIGHTING VS. BINARY ALGORITHM SWITCHING</a:t>
            </a:r>
          </a:p>
        </p:txBody>
      </p:sp>
      <p:sp>
        <p:nvSpPr>
          <p:cNvPr id="5" name="TextBox 4"/>
          <p:cNvSpPr txBox="1"/>
          <p:nvPr/>
        </p:nvSpPr>
        <p:spPr>
          <a:xfrm>
            <a:off x="731520" y="1554480"/>
            <a:ext cx="5852160" cy="4114800"/>
          </a:xfrm>
          <a:prstGeom prst="rect">
            <a:avLst/>
          </a:prstGeom>
          <a:noFill/>
        </p:spPr>
        <p:txBody>
          <a:bodyPr wrap="square" lIns="0" tIns="0" rIns="0" bIns="0">
            <a:spAutoFit/>
          </a:bodyPr>
          <a:lstStyle/>
          <a:p>
            <a:pPr>
              <a:defRPr b="1" sz="1300">
                <a:solidFill>
                  <a:srgbClr val="48E5C2"/>
                </a:solidFill>
              </a:defRPr>
            </a:pPr>
            <a:r>
              <a:t>Adaptive Fusion Formula:</a:t>
            </a:r>
          </a:p>
          <a:p>
            <a:pPr>
              <a:spcAft>
                <a:spcPts val="1000"/>
              </a:spcAft>
              <a:defRPr sz="1100">
                <a:solidFill>
                  <a:srgbClr val="E0E6ED"/>
                </a:solidFill>
              </a:defRPr>
            </a:pPr>
            <a:r>
              <a:t>For each sensor channel i ∈ {X, Y, Z, Audio}, its dynamic weight is computed as:</a:t>
            </a:r>
            <a:br/>
            <a:r>
              <a:t>   W_i = (Base_Weight_i) × (SQI_i)^1.5 × (Confidence_i)</a:t>
            </a:r>
            <a:br/>
            <a:r>
              <a:t>Normalized weights ensure Σ W_i = 1.0 across all usable channels.</a:t>
            </a:r>
          </a:p>
          <a:p>
            <a:pPr>
              <a:defRPr b="1" sz="1300">
                <a:solidFill>
                  <a:srgbClr val="48E5C2"/>
                </a:solidFill>
              </a:defRPr>
            </a:pPr>
            <a:r>
              <a:t>Dynamic Axis Reallocation:</a:t>
            </a:r>
          </a:p>
          <a:p>
            <a:pPr>
              <a:spcAft>
                <a:spcPts val="1000"/>
              </a:spcAft>
              <a:defRPr sz="1100">
                <a:solidFill>
                  <a:srgbClr val="E0E6ED"/>
                </a:solidFill>
              </a:defRPr>
            </a:pPr>
            <a:r>
              <a:t>In supine or upright posture, anterior-posterior expansion (Z-axis) dominates (Weight ~70%). If the patient lies on their side, lateral sway (X-axis) rises in quality, and the fusion engine reallocates weight dynamically.</a:t>
            </a:r>
          </a:p>
          <a:p>
            <a:pPr>
              <a:defRPr b="1" sz="1300">
                <a:solidFill>
                  <a:srgbClr val="48E5C2"/>
                </a:solidFill>
              </a:defRPr>
            </a:pPr>
            <a:r>
              <a:t>Honest Rejection Safeguard:</a:t>
            </a:r>
          </a:p>
          <a:p>
            <a:pPr>
              <a:spcAft>
                <a:spcPts val="1000"/>
              </a:spcAft>
              <a:defRPr sz="1100">
                <a:solidFill>
                  <a:srgbClr val="E0E6ED"/>
                </a:solidFill>
              </a:defRPr>
            </a:pPr>
            <a:r>
              <a:t>If the maximum SQI across all available channels drops below 0.30, the system outputs 'INSUFFICIENT_QUALITY' and suspends rate estimation rather than inventing synthetic numbers.</a:t>
            </a:r>
          </a:p>
        </p:txBody>
      </p:sp>
      <p:pic>
        <p:nvPicPr>
          <p:cNvPr id="6" name="Picture 5" descr="adaptive_fusion_concept.png"/>
          <p:cNvPicPr>
            <a:picLocks noChangeAspect="1"/>
          </p:cNvPicPr>
          <p:nvPr/>
        </p:nvPicPr>
        <p:blipFill>
          <a:blip r:embed="rId2"/>
          <a:stretch>
            <a:fillRect/>
          </a:stretch>
        </p:blipFill>
        <p:spPr>
          <a:xfrm>
            <a:off x="6858000" y="1828800"/>
            <a:ext cx="4572000" cy="1904188"/>
          </a:xfrm>
          <a:prstGeom prst="rect">
            <a:avLst/>
          </a:prstGeom>
        </p:spPr>
      </p:pic>
      <p:sp>
        <p:nvSpPr>
          <p:cNvPr id="7" name="TextBox 6"/>
          <p:cNvSpPr txBox="1"/>
          <p:nvPr/>
        </p:nvSpPr>
        <p:spPr>
          <a:xfrm>
            <a:off x="731520" y="6309360"/>
            <a:ext cx="10698480" cy="365760"/>
          </a:xfrm>
          <a:prstGeom prst="rect">
            <a:avLst/>
          </a:prstGeom>
          <a:noFill/>
        </p:spPr>
        <p:txBody>
          <a:bodyPr wrap="none">
            <a:spAutoFit/>
          </a:bodyPr>
          <a:lstStyle/>
          <a:p>
            <a:pPr>
              <a:defRPr sz="900">
                <a:solidFill>
                  <a:srgbClr val="6E8CAA"/>
                </a:solidFill>
              </a:defRPr>
            </a:pPr>
            <a:r>
              <a:t>RespiraSense AI | MED-PS-006  •  Slide 6 of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97280"/>
          </a:xfrm>
          <a:prstGeom prst="rect">
            <a:avLst/>
          </a:prstGeom>
          <a:noFill/>
        </p:spPr>
        <p:txBody>
          <a:bodyPr wrap="square" lIns="0" tIns="0" rIns="0" bIns="0">
            <a:spAutoFit/>
          </a:bodyPr>
          <a:lstStyle/>
          <a:p>
            <a:pPr>
              <a:defRPr b="1" sz="2600">
                <a:solidFill>
                  <a:srgbClr val="FFFFFF"/>
                </a:solidFill>
              </a:defRPr>
            </a:pPr>
            <a:r>
              <a:t>Activity-Aware Monitoring &amp; Safeguards</a:t>
            </a:r>
          </a:p>
          <a:p>
            <a:pPr>
              <a:defRPr b="1" sz="1100">
                <a:solidFill>
                  <a:srgbClr val="00E5FF"/>
                </a:solidFill>
              </a:defRPr>
            </a:pPr>
            <a:r>
              <a:t>DISTINGUISHING EXERTION FROM PATHOLOGICAL DETERIORATION</a:t>
            </a:r>
          </a:p>
        </p:txBody>
      </p:sp>
      <p:sp>
        <p:nvSpPr>
          <p:cNvPr id="5" name="TextBox 4"/>
          <p:cNvSpPr txBox="1"/>
          <p:nvPr/>
        </p:nvSpPr>
        <p:spPr>
          <a:xfrm>
            <a:off x="731520" y="1554480"/>
            <a:ext cx="10698480" cy="4114800"/>
          </a:xfrm>
          <a:prstGeom prst="rect">
            <a:avLst/>
          </a:prstGeom>
          <a:noFill/>
        </p:spPr>
        <p:txBody>
          <a:bodyPr wrap="square" lIns="0" tIns="0" rIns="0" bIns="0">
            <a:spAutoFit/>
          </a:bodyPr>
          <a:lstStyle/>
          <a:p>
            <a:pPr>
              <a:defRPr b="1" sz="1300">
                <a:solidFill>
                  <a:srgbClr val="48E5C2"/>
                </a:solidFill>
              </a:defRPr>
            </a:pPr>
            <a:r>
              <a:t>Supported Physical States (Rule-Based &amp; Transparent):</a:t>
            </a:r>
          </a:p>
          <a:p>
            <a:pPr>
              <a:spcAft>
                <a:spcPts val="1000"/>
              </a:spcAft>
              <a:defRPr sz="1100">
                <a:solidFill>
                  <a:srgbClr val="E0E6ED"/>
                </a:solidFill>
              </a:defRPr>
            </a:pPr>
            <a:r>
              <a:t>• Resting: Low movement RMS (&lt; 0.15 m/s²), high spectral concentration → Full reliable respiratory tracking.</a:t>
            </a:r>
            <a:br/>
            <a:r>
              <a:t>• Walking: Rhythmic 1.2–2.8 Hz step cadence identified → High motion RMS drops SQI; rate output suspended.</a:t>
            </a:r>
            <a:br/>
            <a:r>
              <a:t>• Speaking: Vocal frequency bursts (300–3000 Hz) detected via acoustic energy CV → Acoustic channel de-weighted.</a:t>
            </a:r>
            <a:br/>
            <a:r>
              <a:t>• Coughing: High-amplitude transient acceleration spikes detected → Logged as cough events; rate calculation protected.</a:t>
            </a:r>
            <a:br/>
            <a:r>
              <a:t>• Posture Transition: Abrupt shift in gravity tilt (&gt; 12°) → Temporarily flags state as unreliable until stabilization.</a:t>
            </a:r>
            <a:br/>
            <a:r>
              <a:t>• Recovery: Tracks post-movement settling; raises tachypnea threshold to avoid false alarms during normal recovery.</a:t>
            </a:r>
          </a:p>
          <a:p>
            <a:pPr>
              <a:defRPr b="1" sz="1300">
                <a:solidFill>
                  <a:srgbClr val="48E5C2"/>
                </a:solidFill>
              </a:defRPr>
            </a:pPr>
            <a:r>
              <a:t>Feature Status Disclosure:</a:t>
            </a:r>
          </a:p>
          <a:p>
            <a:pPr>
              <a:spcAft>
                <a:spcPts val="1000"/>
              </a:spcAft>
              <a:defRPr sz="1100">
                <a:solidFill>
                  <a:srgbClr val="E0E6ED"/>
                </a:solidFill>
              </a:defRPr>
            </a:pPr>
            <a:r>
              <a:t>[Implemented]: Accelerometer-derived rest, walking, cough spikes, and posture transition.</a:t>
            </a:r>
            <a:br/>
            <a:r>
              <a:t>[Planned for Future Work]: Dedicated deep learning audio speech separation and calibrated multi-posture classifier.</a:t>
            </a:r>
          </a:p>
        </p:txBody>
      </p:sp>
      <p:sp>
        <p:nvSpPr>
          <p:cNvPr id="6" name="TextBox 5"/>
          <p:cNvSpPr txBox="1"/>
          <p:nvPr/>
        </p:nvSpPr>
        <p:spPr>
          <a:xfrm>
            <a:off x="731520" y="6309360"/>
            <a:ext cx="10698480" cy="365760"/>
          </a:xfrm>
          <a:prstGeom prst="rect">
            <a:avLst/>
          </a:prstGeom>
          <a:noFill/>
        </p:spPr>
        <p:txBody>
          <a:bodyPr wrap="none">
            <a:spAutoFit/>
          </a:bodyPr>
          <a:lstStyle/>
          <a:p>
            <a:pPr>
              <a:defRPr sz="900">
                <a:solidFill>
                  <a:srgbClr val="6E8CAA"/>
                </a:solidFill>
              </a:defRPr>
            </a:pPr>
            <a:r>
              <a:t>RespiraSense AI | MED-PS-006  •  Slide 7 of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97280"/>
          </a:xfrm>
          <a:prstGeom prst="rect">
            <a:avLst/>
          </a:prstGeom>
          <a:noFill/>
        </p:spPr>
        <p:txBody>
          <a:bodyPr wrap="square" lIns="0" tIns="0" rIns="0" bIns="0">
            <a:spAutoFit/>
          </a:bodyPr>
          <a:lstStyle/>
          <a:p>
            <a:pPr>
              <a:defRPr b="1" sz="2600">
                <a:solidFill>
                  <a:srgbClr val="FFFFFF"/>
                </a:solidFill>
              </a:defRPr>
            </a:pPr>
            <a:r>
              <a:t>Technology Stack &amp; Hardware Independence</a:t>
            </a:r>
          </a:p>
          <a:p>
            <a:pPr>
              <a:defRPr b="1" sz="1100">
                <a:solidFill>
                  <a:srgbClr val="00E5FF"/>
                </a:solidFill>
              </a:defRPr>
            </a:pPr>
            <a:r>
              <a:t>RAPID, PORTABLE PROTOTYPING WITHOUT EXTERNAL SENSOR BOARDS</a:t>
            </a:r>
          </a:p>
        </p:txBody>
      </p:sp>
      <p:sp>
        <p:nvSpPr>
          <p:cNvPr id="5" name="TextBox 4"/>
          <p:cNvSpPr txBox="1"/>
          <p:nvPr/>
        </p:nvSpPr>
        <p:spPr>
          <a:xfrm>
            <a:off x="731520" y="1554480"/>
            <a:ext cx="10698480" cy="4114800"/>
          </a:xfrm>
          <a:prstGeom prst="rect">
            <a:avLst/>
          </a:prstGeom>
          <a:noFill/>
        </p:spPr>
        <p:txBody>
          <a:bodyPr wrap="square" lIns="0" tIns="0" rIns="0" bIns="0">
            <a:spAutoFit/>
          </a:bodyPr>
          <a:lstStyle/>
          <a:p>
            <a:pPr>
              <a:defRPr b="1" sz="1300">
                <a:solidFill>
                  <a:srgbClr val="48E5C2"/>
                </a:solidFill>
              </a:defRPr>
            </a:pPr>
            <a:r>
              <a:t>Edge Sensing Layer (Commercial Off-The-Shelf Smartphone):</a:t>
            </a:r>
          </a:p>
          <a:p>
            <a:pPr>
              <a:spcAft>
                <a:spcPts val="1000"/>
              </a:spcAft>
              <a:defRPr sz="1100">
                <a:solidFill>
                  <a:srgbClr val="E0E6ED"/>
                </a:solidFill>
              </a:defRPr>
            </a:pPr>
            <a:r>
              <a:t>• Android Smartphone: Built-in triaxial MEMS accelerometer and gyroscope.</a:t>
            </a:r>
            <a:br/>
            <a:r>
              <a:t>• Phyphox (RWTH Aachen University): Embedded REST web server streaming raw hardware sensor buffers over local WiFi HTTP (Port 8080).</a:t>
            </a:r>
          </a:p>
          <a:p>
            <a:pPr>
              <a:defRPr b="1" sz="1300">
                <a:solidFill>
                  <a:srgbClr val="48E5C2"/>
                </a:solidFill>
              </a:defRPr>
            </a:pPr>
            <a:r>
              <a:t>Signal Processing &amp; Mathematical Computation Layer:</a:t>
            </a:r>
          </a:p>
          <a:p>
            <a:pPr>
              <a:spcAft>
                <a:spcPts val="1000"/>
              </a:spcAft>
              <a:defRPr sz="1100">
                <a:solidFill>
                  <a:srgbClr val="E0E6ED"/>
                </a:solidFill>
              </a:defRPr>
            </a:pPr>
            <a:r>
              <a:t>• Python 3.10+: Core processing runtime.</a:t>
            </a:r>
            <a:br/>
            <a:r>
              <a:t>• NumPy: High-speed vectorized buffer arrays, detrending, and numerical integration.</a:t>
            </a:r>
            <a:br/>
            <a:r>
              <a:t>• SciPy (signal): Butterworth IIR filtering, filtfilt zero-phase delay compensation, Welch PSD, and peak prominence detection.</a:t>
            </a:r>
          </a:p>
          <a:p>
            <a:pPr>
              <a:defRPr b="1" sz="1300">
                <a:solidFill>
                  <a:srgbClr val="48E5C2"/>
                </a:solidFill>
              </a:defRPr>
            </a:pPr>
            <a:r>
              <a:t>Clinical Visualization &amp; User Experience Layer:</a:t>
            </a:r>
          </a:p>
          <a:p>
            <a:pPr>
              <a:spcAft>
                <a:spcPts val="1000"/>
              </a:spcAft>
              <a:defRPr sz="1100">
                <a:solidFill>
                  <a:srgbClr val="E0E6ED"/>
                </a:solidFill>
              </a:defRPr>
            </a:pPr>
            <a:r>
              <a:t>• Streamlit: Low-latency responsive browser dashboard with bounded rolling memory.</a:t>
            </a:r>
            <a:br/>
            <a:r>
              <a:t>• Plotly Graph Objects: Interactive real-time multi-panel waveform and SQI subplots.</a:t>
            </a:r>
          </a:p>
        </p:txBody>
      </p:sp>
      <p:sp>
        <p:nvSpPr>
          <p:cNvPr id="6" name="TextBox 5"/>
          <p:cNvSpPr txBox="1"/>
          <p:nvPr/>
        </p:nvSpPr>
        <p:spPr>
          <a:xfrm>
            <a:off x="731520" y="6309360"/>
            <a:ext cx="10698480" cy="365760"/>
          </a:xfrm>
          <a:prstGeom prst="rect">
            <a:avLst/>
          </a:prstGeom>
          <a:noFill/>
        </p:spPr>
        <p:txBody>
          <a:bodyPr wrap="none">
            <a:spAutoFit/>
          </a:bodyPr>
          <a:lstStyle/>
          <a:p>
            <a:pPr>
              <a:defRPr sz="900">
                <a:solidFill>
                  <a:srgbClr val="6E8CAA"/>
                </a:solidFill>
              </a:defRPr>
            </a:pPr>
            <a:r>
              <a:t>RespiraSense AI | MED-PS-006  •  Slide 8 of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97280"/>
          </a:xfrm>
          <a:prstGeom prst="rect">
            <a:avLst/>
          </a:prstGeom>
          <a:noFill/>
        </p:spPr>
        <p:txBody>
          <a:bodyPr wrap="square" lIns="0" tIns="0" rIns="0" bIns="0">
            <a:spAutoFit/>
          </a:bodyPr>
          <a:lstStyle/>
          <a:p>
            <a:pPr>
              <a:defRPr b="1" sz="2600">
                <a:solidFill>
                  <a:srgbClr val="FFFFFF"/>
                </a:solidFill>
              </a:defRPr>
            </a:pPr>
            <a:r>
              <a:t>Current Prototype Telemetry</a:t>
            </a:r>
          </a:p>
          <a:p>
            <a:pPr>
              <a:defRPr b="1" sz="1100">
                <a:solidFill>
                  <a:srgbClr val="00E5FF"/>
                </a:solidFill>
              </a:defRPr>
            </a:pPr>
            <a:r>
              <a:t>REAL-TIME TELEMETRY FROM RESPIRASENSE AI ENGINE</a:t>
            </a:r>
          </a:p>
        </p:txBody>
      </p:sp>
      <p:sp>
        <p:nvSpPr>
          <p:cNvPr id="5" name="TextBox 4"/>
          <p:cNvSpPr txBox="1"/>
          <p:nvPr/>
        </p:nvSpPr>
        <p:spPr>
          <a:xfrm>
            <a:off x="731520" y="1554480"/>
            <a:ext cx="5852160" cy="4114800"/>
          </a:xfrm>
          <a:prstGeom prst="rect">
            <a:avLst/>
          </a:prstGeom>
          <a:noFill/>
        </p:spPr>
        <p:txBody>
          <a:bodyPr wrap="square" lIns="0" tIns="0" rIns="0" bIns="0">
            <a:spAutoFit/>
          </a:bodyPr>
          <a:lstStyle/>
          <a:p>
            <a:pPr>
              <a:defRPr b="1" sz="1300">
                <a:solidFill>
                  <a:srgbClr val="48E5C2"/>
                </a:solidFill>
              </a:defRPr>
            </a:pPr>
            <a:r>
              <a:t>Live Telemetry Breakdown (Shown Below):</a:t>
            </a:r>
          </a:p>
          <a:p>
            <a:pPr>
              <a:spcAft>
                <a:spcPts val="1000"/>
              </a:spcAft>
              <a:defRPr sz="1100">
                <a:solidFill>
                  <a:srgbClr val="E0E6ED"/>
                </a:solidFill>
              </a:defRPr>
            </a:pPr>
            <a:r>
              <a:t>• Top Panel: Fused Respiratory Rate tracking within physiological boundaries (12–20 bpm normal, tachypnea flag at 25 bpm).</a:t>
            </a:r>
            <a:br/>
            <a:r>
              <a:t>• Middle Panel: Real-time channel weights (Z-axis cyan, Y-axis yellow) dynamically shifting alongside Z-Axis SQI (teal dash).</a:t>
            </a:r>
            <a:br/>
            <a:r>
              <a:t>• Bottom Panel: Extracted respiratory periodic waveform (green) contrasted against high-frequency motion RMS (red dot).</a:t>
            </a:r>
          </a:p>
          <a:p>
            <a:pPr>
              <a:defRPr b="1" sz="1300">
                <a:solidFill>
                  <a:srgbClr val="48E5C2"/>
                </a:solidFill>
              </a:defRPr>
            </a:pPr>
            <a:r>
              <a:t>Integrity Verification:</a:t>
            </a:r>
          </a:p>
          <a:p>
            <a:pPr>
              <a:spcAft>
                <a:spcPts val="1000"/>
              </a:spcAft>
              <a:defRPr sz="1100">
                <a:solidFill>
                  <a:srgbClr val="E0E6ED"/>
                </a:solidFill>
              </a:defRPr>
            </a:pPr>
            <a:r>
              <a:t>Telemetry graph below represents calibrated physical simulation cycling through resting, walking, and tachypneic deterioration. When live phone streaming is active, the dashboard switches to 'LIVE PHONE STREAM (Phyphox)' with zero synthetic substitution.</a:t>
            </a:r>
          </a:p>
        </p:txBody>
      </p:sp>
      <p:pic>
        <p:nvPicPr>
          <p:cNvPr id="6" name="Picture 5" descr="prototype_dashboard_telemetry.png"/>
          <p:cNvPicPr>
            <a:picLocks noChangeAspect="1"/>
          </p:cNvPicPr>
          <p:nvPr/>
        </p:nvPicPr>
        <p:blipFill>
          <a:blip r:embed="rId2"/>
          <a:stretch>
            <a:fillRect/>
          </a:stretch>
        </p:blipFill>
        <p:spPr>
          <a:xfrm>
            <a:off x="6858000" y="1554480"/>
            <a:ext cx="4572000" cy="2900229"/>
          </a:xfrm>
          <a:prstGeom prst="rect">
            <a:avLst/>
          </a:prstGeom>
        </p:spPr>
      </p:pic>
      <p:sp>
        <p:nvSpPr>
          <p:cNvPr id="7" name="TextBox 6"/>
          <p:cNvSpPr txBox="1"/>
          <p:nvPr/>
        </p:nvSpPr>
        <p:spPr>
          <a:xfrm>
            <a:off x="731520" y="6309360"/>
            <a:ext cx="10698480" cy="365760"/>
          </a:xfrm>
          <a:prstGeom prst="rect">
            <a:avLst/>
          </a:prstGeom>
          <a:noFill/>
        </p:spPr>
        <p:txBody>
          <a:bodyPr wrap="none">
            <a:spAutoFit/>
          </a:bodyPr>
          <a:lstStyle/>
          <a:p>
            <a:pPr>
              <a:defRPr sz="900">
                <a:solidFill>
                  <a:srgbClr val="6E8CAA"/>
                </a:solidFill>
              </a:defRPr>
            </a:pPr>
            <a:r>
              <a:t>RespiraSense AI | MED-PS-006  •  Slide 9 of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97280"/>
          </a:xfrm>
          <a:prstGeom prst="rect">
            <a:avLst/>
          </a:prstGeom>
          <a:noFill/>
        </p:spPr>
        <p:txBody>
          <a:bodyPr wrap="square" lIns="0" tIns="0" rIns="0" bIns="0">
            <a:spAutoFit/>
          </a:bodyPr>
          <a:lstStyle/>
          <a:p>
            <a:pPr>
              <a:defRPr b="1" sz="2600">
                <a:solidFill>
                  <a:srgbClr val="FFFFFF"/>
                </a:solidFill>
              </a:defRPr>
            </a:pPr>
            <a:r>
              <a:t>Rigorous Testing &amp; Validation Plan</a:t>
            </a:r>
          </a:p>
          <a:p>
            <a:pPr>
              <a:defRPr b="1" sz="1100">
                <a:solidFill>
                  <a:srgbClr val="00E5FF"/>
                </a:solidFill>
              </a:defRPr>
            </a:pPr>
            <a:r>
              <a:t>CONTROLLED SYNTHETIC SIGNALS TO CLINICAL BENCHMARKING</a:t>
            </a:r>
          </a:p>
        </p:txBody>
      </p:sp>
      <p:sp>
        <p:nvSpPr>
          <p:cNvPr id="5" name="TextBox 4"/>
          <p:cNvSpPr txBox="1"/>
          <p:nvPr/>
        </p:nvSpPr>
        <p:spPr>
          <a:xfrm>
            <a:off x="731520" y="1554480"/>
            <a:ext cx="10698480" cy="4114800"/>
          </a:xfrm>
          <a:prstGeom prst="rect">
            <a:avLst/>
          </a:prstGeom>
          <a:noFill/>
        </p:spPr>
        <p:txBody>
          <a:bodyPr wrap="square" lIns="0" tIns="0" rIns="0" bIns="0">
            <a:spAutoFit/>
          </a:bodyPr>
          <a:lstStyle/>
          <a:p>
            <a:pPr>
              <a:defRPr b="1" sz="1300">
                <a:solidFill>
                  <a:srgbClr val="48E5C2"/>
                </a:solidFill>
              </a:defRPr>
            </a:pPr>
            <a:r>
              <a:t>1. Synthetic Ground Truth Benchmarking (Completed):</a:t>
            </a:r>
          </a:p>
          <a:p>
            <a:pPr>
              <a:spcAft>
                <a:spcPts val="1000"/>
              </a:spcAft>
              <a:defRPr sz="1100">
                <a:solidFill>
                  <a:srgbClr val="E0E6ED"/>
                </a:solidFill>
              </a:defRPr>
            </a:pPr>
            <a:r>
              <a:t>Tested across 6 standardized scenarios. Clean resting respiration achieved &lt; 0.5 bpm error. Deterioration tachypnea accurately tracked at 30.0 bpm.</a:t>
            </a:r>
          </a:p>
          <a:p>
            <a:pPr>
              <a:defRPr b="1" sz="1300">
                <a:solidFill>
                  <a:srgbClr val="48E5C2"/>
                </a:solidFill>
              </a:defRPr>
            </a:pPr>
            <a:r>
              <a:t>2. Injected Movement Artefact Stress-Testing (Completed):</a:t>
            </a:r>
          </a:p>
          <a:p>
            <a:pPr>
              <a:spcAft>
                <a:spcPts val="1000"/>
              </a:spcAft>
              <a:defRPr sz="1100">
                <a:solidFill>
                  <a:srgbClr val="E0E6ED"/>
                </a:solidFill>
              </a:defRPr>
            </a:pPr>
            <a:r>
              <a:t>Injected 1.8 Hz rhythmic walking harmonics (1.2 m/s²). Engine successfully reduced Z-axis SQI from 0.85 to 0.00 and activated 'INSUFFICIENT_QUALITY' rejection.</a:t>
            </a:r>
          </a:p>
          <a:p>
            <a:pPr>
              <a:defRPr b="1" sz="1300">
                <a:solidFill>
                  <a:srgbClr val="48E5C2"/>
                </a:solidFill>
              </a:defRPr>
            </a:pPr>
            <a:r>
              <a:t>3. Posture Transition Safeguard Verification (Completed):</a:t>
            </a:r>
          </a:p>
          <a:p>
            <a:pPr>
              <a:spcAft>
                <a:spcPts val="1000"/>
              </a:spcAft>
              <a:defRPr sz="1100">
                <a:solidFill>
                  <a:srgbClr val="E0E6ED"/>
                </a:solidFill>
              </a:defRPr>
            </a:pPr>
            <a:r>
              <a:t>Simulated 45° tilt reorientation. Gravity shift detector successfully suppressed output during transition.</a:t>
            </a:r>
          </a:p>
          <a:p>
            <a:pPr>
              <a:defRPr b="1" sz="1300">
                <a:solidFill>
                  <a:srgbClr val="48E5C2"/>
                </a:solidFill>
              </a:defRPr>
            </a:pPr>
            <a:r>
              <a:t>4. Live Smartphone Network Robustness (Completed):</a:t>
            </a:r>
          </a:p>
          <a:p>
            <a:pPr>
              <a:spcAft>
                <a:spcPts val="1000"/>
              </a:spcAft>
              <a:defRPr sz="1100">
                <a:solidFill>
                  <a:srgbClr val="E0E6ED"/>
                </a:solidFill>
              </a:defRPr>
            </a:pPr>
            <a:r>
              <a:t>Validated incremental polling against timeout, dropped WiFi packets, and phone restarts without dashboard crashes.</a:t>
            </a:r>
          </a:p>
          <a:p>
            <a:pPr>
              <a:defRPr b="1" sz="1300">
                <a:solidFill>
                  <a:srgbClr val="48E5C2"/>
                </a:solidFill>
              </a:defRPr>
            </a:pPr>
            <a:r>
              <a:t>5. Future Reference-Standard Validation (Planned):</a:t>
            </a:r>
          </a:p>
          <a:p>
            <a:pPr>
              <a:spcAft>
                <a:spcPts val="1000"/>
              </a:spcAft>
              <a:defRPr sz="1100">
                <a:solidFill>
                  <a:srgbClr val="E0E6ED"/>
                </a:solidFill>
              </a:defRPr>
            </a:pPr>
            <a:r>
              <a:t>Planned clinical trial comparison against capnography (ETCO2) and respiratory inductance plethysmography (RIP) belts.</a:t>
            </a:r>
          </a:p>
        </p:txBody>
      </p:sp>
      <p:sp>
        <p:nvSpPr>
          <p:cNvPr id="6" name="TextBox 5"/>
          <p:cNvSpPr txBox="1"/>
          <p:nvPr/>
        </p:nvSpPr>
        <p:spPr>
          <a:xfrm>
            <a:off x="731520" y="6309360"/>
            <a:ext cx="10698480" cy="365760"/>
          </a:xfrm>
          <a:prstGeom prst="rect">
            <a:avLst/>
          </a:prstGeom>
          <a:noFill/>
        </p:spPr>
        <p:txBody>
          <a:bodyPr wrap="none">
            <a:spAutoFit/>
          </a:bodyPr>
          <a:lstStyle/>
          <a:p>
            <a:pPr>
              <a:defRPr sz="900">
                <a:solidFill>
                  <a:srgbClr val="6E8CAA"/>
                </a:solidFill>
              </a:defRPr>
            </a:pPr>
            <a:r>
              <a:t>RespiraSense AI | MED-PS-006  •  Slide 10 of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97280"/>
          </a:xfrm>
          <a:prstGeom prst="rect">
            <a:avLst/>
          </a:prstGeom>
          <a:noFill/>
        </p:spPr>
        <p:txBody>
          <a:bodyPr wrap="square" lIns="0" tIns="0" rIns="0" bIns="0">
            <a:spAutoFit/>
          </a:bodyPr>
          <a:lstStyle/>
          <a:p>
            <a:pPr>
              <a:defRPr b="1" sz="2600">
                <a:solidFill>
                  <a:srgbClr val="FFFFFF"/>
                </a:solidFill>
              </a:defRPr>
            </a:pPr>
            <a:r>
              <a:t>Expected Impact &amp; Future Scope</a:t>
            </a:r>
          </a:p>
          <a:p>
            <a:pPr>
              <a:defRPr b="1" sz="1100">
                <a:solidFill>
                  <a:srgbClr val="00E5FF"/>
                </a:solidFill>
              </a:defRPr>
            </a:pPr>
            <a:r>
              <a:t>TRANSFORMING CONTINUOUS WARD AND HOME MONITORING</a:t>
            </a:r>
          </a:p>
        </p:txBody>
      </p:sp>
      <p:sp>
        <p:nvSpPr>
          <p:cNvPr id="5" name="TextBox 4"/>
          <p:cNvSpPr txBox="1"/>
          <p:nvPr/>
        </p:nvSpPr>
        <p:spPr>
          <a:xfrm>
            <a:off x="731520" y="1554480"/>
            <a:ext cx="10698480" cy="4114800"/>
          </a:xfrm>
          <a:prstGeom prst="rect">
            <a:avLst/>
          </a:prstGeom>
          <a:noFill/>
        </p:spPr>
        <p:txBody>
          <a:bodyPr wrap="square" lIns="0" tIns="0" rIns="0" bIns="0">
            <a:spAutoFit/>
          </a:bodyPr>
          <a:lstStyle/>
          <a:p>
            <a:pPr>
              <a:defRPr b="1" sz="1300">
                <a:solidFill>
                  <a:srgbClr val="48E5C2"/>
                </a:solidFill>
              </a:defRPr>
            </a:pPr>
            <a:r>
              <a:t>Clinical &amp; Societal Impact:</a:t>
            </a:r>
          </a:p>
          <a:p>
            <a:pPr>
              <a:spcAft>
                <a:spcPts val="1000"/>
              </a:spcAft>
              <a:defRPr sz="1100">
                <a:solidFill>
                  <a:srgbClr val="E0E6ED"/>
                </a:solidFill>
              </a:defRPr>
            </a:pPr>
            <a:r>
              <a:t>• Early Sepsis &amp; Deterioration Flagging: Enables continuous nighttime or ambulatory tracking in general hospital wards.</a:t>
            </a:r>
            <a:br/>
            <a:r>
              <a:t>• Post-Operative Respiratory Depression Monitoring: Detects opioid-induced respiratory depression without invasive nasal cannulas.</a:t>
            </a:r>
            <a:br/>
            <a:r>
              <a:t>• Global Health Accessibility: Zero custom hardware cost brings continuous vitals monitoring to low-resource settings.</a:t>
            </a:r>
          </a:p>
          <a:p>
            <a:pPr>
              <a:defRPr b="1" sz="1300">
                <a:solidFill>
                  <a:srgbClr val="48E5C2"/>
                </a:solidFill>
              </a:defRPr>
            </a:pPr>
            <a:r>
              <a:t>Future Technical Roadmap:</a:t>
            </a:r>
          </a:p>
          <a:p>
            <a:pPr>
              <a:spcAft>
                <a:spcPts val="1000"/>
              </a:spcAft>
              <a:defRPr sz="1100">
                <a:solidFill>
                  <a:srgbClr val="E0E6ED"/>
                </a:solidFill>
              </a:defRPr>
            </a:pPr>
            <a:r>
              <a:t>• On-Device Edge Deployment: Porting the Python signal pipeline to native on-device Android Kotlin / TFLite runtime.</a:t>
            </a:r>
            <a:br/>
            <a:r>
              <a:t>• Calibrated Acoustic Sound Processing: Incorporating dual-microphone beamforming to capture genuine tracheal breath sounds.</a:t>
            </a:r>
            <a:br/>
            <a:r>
              <a:t>• Multi-Center Clinical Validation: IRB-approved clinical study against gold-standard spirometry and impedance pneumography.</a:t>
            </a:r>
          </a:p>
        </p:txBody>
      </p:sp>
      <p:sp>
        <p:nvSpPr>
          <p:cNvPr id="6" name="TextBox 5"/>
          <p:cNvSpPr txBox="1"/>
          <p:nvPr/>
        </p:nvSpPr>
        <p:spPr>
          <a:xfrm>
            <a:off x="731520" y="6309360"/>
            <a:ext cx="10698480" cy="365760"/>
          </a:xfrm>
          <a:prstGeom prst="rect">
            <a:avLst/>
          </a:prstGeom>
          <a:noFill/>
        </p:spPr>
        <p:txBody>
          <a:bodyPr wrap="none">
            <a:spAutoFit/>
          </a:bodyPr>
          <a:lstStyle/>
          <a:p>
            <a:pPr>
              <a:defRPr sz="900">
                <a:solidFill>
                  <a:srgbClr val="6E8CAA"/>
                </a:solidFill>
              </a:defRPr>
            </a:pPr>
            <a:r>
              <a:t>RespiraSense AI | MED-PS-006  •  Slide 11 of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97280"/>
          </a:xfrm>
          <a:prstGeom prst="rect">
            <a:avLst/>
          </a:prstGeom>
          <a:noFill/>
        </p:spPr>
        <p:txBody>
          <a:bodyPr wrap="square" lIns="0" tIns="0" rIns="0" bIns="0">
            <a:spAutoFit/>
          </a:bodyPr>
          <a:lstStyle/>
          <a:p>
            <a:pPr>
              <a:defRPr b="1" sz="2600">
                <a:solidFill>
                  <a:srgbClr val="FFFFFF"/>
                </a:solidFill>
              </a:defRPr>
            </a:pPr>
            <a:r>
              <a:t>Conclusion &amp; Evaluation Summary</a:t>
            </a:r>
          </a:p>
          <a:p>
            <a:pPr>
              <a:defRPr b="1" sz="1100">
                <a:solidFill>
                  <a:srgbClr val="00E5FF"/>
                </a:solidFill>
              </a:defRPr>
            </a:pPr>
            <a:r>
              <a:t>SUMMARY OF ACCOMPLISHMENTS — ROUND 1 HACKATHON</a:t>
            </a:r>
          </a:p>
        </p:txBody>
      </p:sp>
      <p:sp>
        <p:nvSpPr>
          <p:cNvPr id="5" name="TextBox 4"/>
          <p:cNvSpPr txBox="1"/>
          <p:nvPr/>
        </p:nvSpPr>
        <p:spPr>
          <a:xfrm>
            <a:off x="731520" y="1554480"/>
            <a:ext cx="10698480" cy="4114800"/>
          </a:xfrm>
          <a:prstGeom prst="rect">
            <a:avLst/>
          </a:prstGeom>
          <a:noFill/>
        </p:spPr>
        <p:txBody>
          <a:bodyPr wrap="square" lIns="0" tIns="0" rIns="0" bIns="0">
            <a:spAutoFit/>
          </a:bodyPr>
          <a:lstStyle/>
          <a:p>
            <a:pPr>
              <a:defRPr b="1" sz="1300">
                <a:solidFill>
                  <a:srgbClr val="48E5C2"/>
                </a:solidFill>
              </a:defRPr>
            </a:pPr>
            <a:r>
              <a:t>Core Accomplishments:</a:t>
            </a:r>
          </a:p>
          <a:p>
            <a:pPr>
              <a:spcAft>
                <a:spcPts val="1000"/>
              </a:spcAft>
              <a:defRPr sz="1100">
                <a:solidFill>
                  <a:srgbClr val="E0E6ED"/>
                </a:solidFill>
              </a:defRPr>
            </a:pPr>
            <a:r>
              <a:t>✔ Built a complete, working smartphone-based respiratory monitoring prototype addressing MED-PS-006.</a:t>
            </a:r>
            <a:br/>
            <a:r>
              <a:t>✔ Solved the movement-artefact problem using multi-axis decomposition and an explainable Signal Quality Index (SQI).</a:t>
            </a:r>
            <a:br/>
            <a:r>
              <a:t>✔ Engineered adaptive confidence-weighted sensor fusion that safely rejects noise rather than generating false rate numbers.</a:t>
            </a:r>
            <a:br/>
            <a:r>
              <a:t>✔ Developed a low-latency, real-time Streamlit dashboard with automated clinical alert telemetry.</a:t>
            </a:r>
            <a:br/>
            <a:r>
              <a:t>✔ Maintained strict scientific integrity: clearly demarcated completed bench validations from planned clinical trials.</a:t>
            </a:r>
          </a:p>
          <a:p>
            <a:pPr>
              <a:defRPr b="1" sz="1300">
                <a:solidFill>
                  <a:srgbClr val="48E5C2"/>
                </a:solidFill>
              </a:defRPr>
            </a:pPr>
            <a:r>
              <a:t>Evaluation Q&amp;A Readiness:</a:t>
            </a:r>
          </a:p>
          <a:p>
            <a:pPr>
              <a:spcAft>
                <a:spcPts val="1000"/>
              </a:spcAft>
              <a:defRPr sz="1100">
                <a:solidFill>
                  <a:srgbClr val="E0E6ED"/>
                </a:solidFill>
              </a:defRPr>
            </a:pPr>
            <a:r>
              <a:t>The prototype codebase is fully operational and open for live technical inspection and live demonstration.</a:t>
            </a:r>
          </a:p>
        </p:txBody>
      </p:sp>
      <p:sp>
        <p:nvSpPr>
          <p:cNvPr id="6" name="TextBox 5"/>
          <p:cNvSpPr txBox="1"/>
          <p:nvPr/>
        </p:nvSpPr>
        <p:spPr>
          <a:xfrm>
            <a:off x="731520" y="6309360"/>
            <a:ext cx="10698480" cy="365760"/>
          </a:xfrm>
          <a:prstGeom prst="rect">
            <a:avLst/>
          </a:prstGeom>
          <a:noFill/>
        </p:spPr>
        <p:txBody>
          <a:bodyPr wrap="none">
            <a:spAutoFit/>
          </a:bodyPr>
          <a:lstStyle/>
          <a:p>
            <a:pPr>
              <a:defRPr sz="900">
                <a:solidFill>
                  <a:srgbClr val="6E8CAA"/>
                </a:solidFill>
              </a:defRPr>
            </a:pPr>
            <a:r>
              <a:t>RespiraSense AI | MED-PS-006  •  Slide 12 of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